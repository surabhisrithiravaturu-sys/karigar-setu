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8"/>
  </p:notesMasterIdLst>
  <p:sldIdLst>
    <p:sldId id="256" r:id="rId2"/>
    <p:sldId id="266" r:id="rId3"/>
    <p:sldId id="264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7655"/>
    <a:srgbClr val="AA9776"/>
    <a:srgbClr val="BFB197"/>
    <a:srgbClr val="889698"/>
    <a:srgbClr val="B5C3FD"/>
    <a:srgbClr val="5373FB"/>
    <a:srgbClr val="CBB9C8"/>
    <a:srgbClr val="0066FF"/>
    <a:srgbClr val="6A206A"/>
    <a:srgbClr val="2E6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4DC57-11C8-44AE-A703-74726A0B9AA7}" v="29" dt="2026-09-22T16:18:25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6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wanth Reddy" userId="723896162a883806" providerId="LiveId" clId="{CC9FF2DA-0E58-472C-BCFA-F5C8398E65E3}"/>
    <pc:docChg chg="modSld">
      <pc:chgData name="Yaswanth Reddy" userId="723896162a883806" providerId="LiveId" clId="{CC9FF2DA-0E58-472C-BCFA-F5C8398E65E3}" dt="2026-09-22T16:24:58.268" v="40" actId="20577"/>
      <pc:docMkLst>
        <pc:docMk/>
      </pc:docMkLst>
      <pc:sldChg chg="modSp mod">
        <pc:chgData name="Yaswanth Reddy" userId="723896162a883806" providerId="LiveId" clId="{CC9FF2DA-0E58-472C-BCFA-F5C8398E65E3}" dt="2026-09-22T16:24:58.268" v="40" actId="20577"/>
        <pc:sldMkLst>
          <pc:docMk/>
          <pc:sldMk cId="0" sldId="256"/>
        </pc:sldMkLst>
        <pc:spChg chg="mod">
          <ac:chgData name="Yaswanth Reddy" userId="723896162a883806" providerId="LiveId" clId="{CC9FF2DA-0E58-472C-BCFA-F5C8398E65E3}" dt="2026-09-22T16:24:58.268" v="40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Yaswanth Reddy" userId="723896162a883806" providerId="LiveId" clId="{CC9FF2DA-0E58-472C-BCFA-F5C8398E65E3}" dt="2026-09-22T16:18:26.953" v="31"/>
        <pc:sldMkLst>
          <pc:docMk/>
          <pc:sldMk cId="0" sldId="257"/>
        </pc:sldMkLst>
        <pc:spChg chg="add del mod">
          <ac:chgData name="Yaswanth Reddy" userId="723896162a883806" providerId="LiveId" clId="{CC9FF2DA-0E58-472C-BCFA-F5C8398E65E3}" dt="2026-09-22T16:18:26.953" v="31"/>
          <ac:spMkLst>
            <pc:docMk/>
            <pc:sldMk cId="0" sldId="257"/>
            <ac:spMk id="49" creationId="{863A0E78-3FAE-8F78-E3A8-556735E7C6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B4F49-EBB5-43FB-94BE-B7088265EB6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74402-C959-4793-BF2F-77A7C6978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74402-C959-4793-BF2F-77A7C69788D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00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7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91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30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3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49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5719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701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715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68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478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46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94031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565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60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3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0968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898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282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0436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454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81864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6145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768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53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60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0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ell.amazon.in/hi/grow-your-business/amazon-karigar?mons_sel_locale=hi_IN&amp;utm_source=chatgpt.com" TargetMode="External"/><Relationship Id="rId3" Type="http://schemas.openxmlformats.org/officeDocument/2006/relationships/hyperlink" Target="https://www.indiahandmade.com/?utm_source=chatgpt.com" TargetMode="External"/><Relationship Id="rId7" Type="http://schemas.openxmlformats.org/officeDocument/2006/relationships/hyperlink" Target="https://indian.handicrafts.gov.in/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handicrafts.nic.in/?utm_source=chatgpt.com" TargetMode="External"/><Relationship Id="rId5" Type="http://schemas.openxmlformats.org/officeDocument/2006/relationships/hyperlink" Target="https://ondc.org/?utm_source=chatgpt.com" TargetMode="External"/><Relationship Id="rId4" Type="http://schemas.openxmlformats.org/officeDocument/2006/relationships/hyperlink" Target="https://bhashini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277295" cy="109728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0" cy="64008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900" b="0">
                <a:solidFill>
                  <a:srgbClr val="555555"/>
                </a:solidFill>
                <a:latin typeface="Calibri"/>
              </a:rPr>
              <a:t>Team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11625"/>
                </a:solidFill>
                <a:latin typeface="Calibri"/>
              </a:defRPr>
            </a:pPr>
            <a:r>
              <a:rPr sz="1100" b="1">
                <a:solidFill>
                  <a:srgbClr val="111625"/>
                </a:solidFill>
                <a:latin typeface="Calibri"/>
              </a:rPr>
              <a:t>Renaissance Guild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2E6F75"/>
                </a:solidFill>
                <a:latin typeface="Calibri"/>
              </a:defRPr>
            </a:pPr>
            <a:r>
              <a:rPr sz="1000" b="1">
                <a:solidFill>
                  <a:srgbClr val="2E6F75"/>
                </a:solidFill>
                <a:latin typeface="Calibri"/>
              </a:rPr>
              <a:t>IDEA TITLE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111625"/>
                </a:solidFill>
                <a:latin typeface="Georgia"/>
              </a:defRPr>
            </a:pPr>
            <a:r>
              <a:rPr sz="2600" b="1">
                <a:solidFill>
                  <a:srgbClr val="111625"/>
                </a:solidFill>
                <a:latin typeface="Georgia"/>
              </a:rPr>
              <a:t>KARIGAR SETHU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74320"/>
            <a:ext cx="1950415" cy="640080"/>
          </a:xfrm>
          <a:prstGeom prst="roundRect">
            <a:avLst/>
          </a:prstGeom>
          <a:solidFill>
            <a:srgbClr val="11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850" b="1">
                <a:solidFill>
                  <a:srgbClr val="D97724"/>
                </a:solidFill>
                <a:latin typeface="Calibri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7295" cy="10972"/>
          </a:xfrm>
          <a:prstGeom prst="rect">
            <a:avLst/>
          </a:prstGeom>
          <a:solidFill>
            <a:srgbClr val="D1C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Calibri"/>
              </a:defRPr>
            </a:pPr>
            <a:r>
              <a:rPr dirty="0"/>
              <a:t>Smart India Hackathon 2026 — Team Renaissance Guil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555555"/>
                </a:solidFill>
                <a:latin typeface="Calibri"/>
              </a:defRPr>
            </a:pPr>
            <a:r>
              <a:t>Slide 1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6400800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4400" b="1">
                <a:solidFill>
                  <a:srgbClr val="111625"/>
                </a:solidFill>
                <a:latin typeface="Georgia"/>
              </a:defRPr>
            </a:pPr>
            <a:r>
              <a:rPr sz="2400" b="1" dirty="0" err="1">
                <a:solidFill>
                  <a:srgbClr val="111625"/>
                </a:solidFill>
                <a:latin typeface="Georgia"/>
              </a:rPr>
              <a:t>KarigarSetu</a:t>
            </a:r>
            <a:endParaRPr sz="2400" b="1" dirty="0">
              <a:solidFill>
                <a:srgbClr val="111625"/>
              </a:solidFill>
              <a:latin typeface="Georgia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800" i="1">
                <a:solidFill>
                  <a:srgbClr val="2E6F75"/>
                </a:solidFill>
                <a:latin typeface="Georgia"/>
              </a:defRPr>
            </a:pPr>
            <a:r>
              <a:rPr sz="2400" b="0" i="1" dirty="0">
                <a:solidFill>
                  <a:srgbClr val="2E6F75"/>
                </a:solidFill>
                <a:latin typeface="Calibri"/>
              </a:rPr>
              <a:t>Voice-First Market Linkage for Marginalized Artisans</a:t>
            </a:r>
          </a:p>
          <a:p>
            <a:pPr>
              <a:spcAft>
                <a:spcPts val="600"/>
              </a:spcAft>
              <a:defRPr sz="1000" b="1">
                <a:solidFill>
                  <a:srgbClr val="D97724"/>
                </a:solidFill>
                <a:latin typeface="Calibri"/>
              </a:defRPr>
            </a:pPr>
            <a:r>
              <a:rPr sz="2400" b="1" dirty="0">
                <a:solidFill>
                  <a:srgbClr val="D97724"/>
                </a:solidFill>
                <a:latin typeface="Calibri"/>
              </a:rPr>
              <a:t>✦ Problem Statement ID  —  </a:t>
            </a:r>
            <a:r>
              <a:rPr sz="2400" b="0" dirty="0">
                <a:solidFill>
                  <a:srgbClr val="111625"/>
                </a:solidFill>
                <a:latin typeface="Calibri"/>
              </a:rPr>
              <a:t>SIH26090</a:t>
            </a:r>
          </a:p>
          <a:p>
            <a:pPr>
              <a:spcAft>
                <a:spcPts val="600"/>
              </a:spcAft>
              <a:defRPr sz="1000" b="1">
                <a:solidFill>
                  <a:srgbClr val="D97724"/>
                </a:solidFill>
                <a:latin typeface="Calibri"/>
              </a:defRPr>
            </a:pPr>
            <a:r>
              <a:rPr sz="2400" b="1" dirty="0">
                <a:solidFill>
                  <a:srgbClr val="D97724"/>
                </a:solidFill>
                <a:latin typeface="Calibri"/>
              </a:rPr>
              <a:t>✦ Problem Statement Title  —  </a:t>
            </a:r>
            <a:r>
              <a:rPr sz="2400" b="0" dirty="0">
                <a:solidFill>
                  <a:srgbClr val="111625"/>
                </a:solidFill>
                <a:latin typeface="Calibri"/>
              </a:rPr>
              <a:t>AI-Driven Market Linkage and Smart Cataloging Mobile Application for Marginalized Artisans</a:t>
            </a:r>
          </a:p>
          <a:p>
            <a:pPr>
              <a:spcAft>
                <a:spcPts val="600"/>
              </a:spcAft>
              <a:defRPr sz="1000" b="1">
                <a:solidFill>
                  <a:srgbClr val="D97724"/>
                </a:solidFill>
                <a:latin typeface="Calibri"/>
              </a:defRPr>
            </a:pPr>
            <a:r>
              <a:rPr sz="2400" b="1" dirty="0">
                <a:solidFill>
                  <a:srgbClr val="D97724"/>
                </a:solidFill>
                <a:latin typeface="Calibri"/>
              </a:rPr>
              <a:t>✦ Theme  —  </a:t>
            </a:r>
            <a:r>
              <a:rPr sz="2400" b="0" dirty="0">
                <a:solidFill>
                  <a:srgbClr val="111625"/>
                </a:solidFill>
                <a:latin typeface="Calibri"/>
              </a:rPr>
              <a:t>Heritage and Culture</a:t>
            </a:r>
          </a:p>
          <a:p>
            <a:pPr>
              <a:spcAft>
                <a:spcPts val="600"/>
              </a:spcAft>
              <a:defRPr sz="1000" b="1">
                <a:solidFill>
                  <a:srgbClr val="D97724"/>
                </a:solidFill>
                <a:latin typeface="Calibri"/>
              </a:defRPr>
            </a:pPr>
            <a:r>
              <a:rPr sz="2400" b="1" dirty="0">
                <a:solidFill>
                  <a:srgbClr val="D97724"/>
                </a:solidFill>
                <a:latin typeface="Calibri"/>
              </a:rPr>
              <a:t>✦ PS Category  —  </a:t>
            </a:r>
            <a:r>
              <a:rPr sz="2400" b="0" dirty="0">
                <a:solidFill>
                  <a:srgbClr val="111625"/>
                </a:solidFill>
                <a:latin typeface="Calibri"/>
              </a:rPr>
              <a:t>Software / Hardware</a:t>
            </a:r>
          </a:p>
          <a:p>
            <a:pPr>
              <a:spcAft>
                <a:spcPts val="600"/>
              </a:spcAft>
              <a:defRPr sz="1000" b="1">
                <a:solidFill>
                  <a:srgbClr val="D97724"/>
                </a:solidFill>
                <a:latin typeface="Calibri"/>
              </a:defRPr>
            </a:pPr>
            <a:r>
              <a:rPr sz="2400" b="1" dirty="0">
                <a:solidFill>
                  <a:srgbClr val="D97724"/>
                </a:solidFill>
                <a:latin typeface="Calibri"/>
              </a:rPr>
              <a:t>✦ Team Name  —  </a:t>
            </a:r>
            <a:r>
              <a:rPr sz="2400" b="0" dirty="0">
                <a:solidFill>
                  <a:srgbClr val="111625"/>
                </a:solidFill>
                <a:latin typeface="Calibri"/>
              </a:rPr>
              <a:t>Renaissance Guild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2684" y="1387029"/>
            <a:ext cx="4389120" cy="385494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5623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i="1">
                <a:solidFill>
                  <a:srgbClr val="555555"/>
                </a:solidFill>
                <a:latin typeface="Calibri"/>
              </a:defRPr>
            </a:pPr>
            <a:r>
              <a:rPr sz="1200"/>
              <a:t>✦ Empowering rural weavers and makers by converting regional spoken dialects directly into professional, global market-ready catalogues.</a:t>
            </a:r>
          </a:p>
        </p:txBody>
      </p:sp>
      <p:pic>
        <p:nvPicPr>
          <p:cNvPr id="14" name="Picture 13" descr="title_artisan_weaving_v2.png"/>
          <p:cNvPicPr>
            <a:picLocks noChangeAspect="1"/>
          </p:cNvPicPr>
          <p:nvPr/>
        </p:nvPicPr>
        <p:blipFill>
          <a:blip r:embed="rId2"/>
          <a:srcRect r="3214" b="4633"/>
          <a:stretch>
            <a:fillRect/>
          </a:stretch>
        </p:blipFill>
        <p:spPr>
          <a:xfrm>
            <a:off x="7462684" y="1387029"/>
            <a:ext cx="4389120" cy="38549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8BAD4-5DC9-20D9-1466-1BDEB2EF9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5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3F61C-E109-3088-9DBC-D8BACD34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6" y="0"/>
            <a:ext cx="12071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0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165E8-E4D4-8C8E-4865-5DD0A9DE8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3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277295" cy="109728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0" cy="64008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85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111625"/>
                </a:solidFill>
                <a:latin typeface="Calibri"/>
              </a:defRPr>
            </a:pPr>
            <a:r>
              <a:t>Renaissance Guild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E6F75"/>
                </a:solidFill>
                <a:latin typeface="Calibri"/>
              </a:defRPr>
            </a:pPr>
            <a:r>
              <a:t>IDEA TITLE</a:t>
            </a:r>
          </a:p>
          <a:p>
            <a:pPr>
              <a:defRPr sz="2000" b="1">
                <a:solidFill>
                  <a:srgbClr val="111625"/>
                </a:solidFill>
                <a:latin typeface="Georgia"/>
              </a:defRPr>
            </a:pPr>
            <a:r>
              <a:t>KARIGAR SETHU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74320"/>
            <a:ext cx="1950415" cy="640080"/>
          </a:xfrm>
          <a:prstGeom prst="roundRect">
            <a:avLst/>
          </a:prstGeom>
          <a:solidFill>
            <a:srgbClr val="11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850" b="1">
                <a:solidFill>
                  <a:srgbClr val="D97724"/>
                </a:solidFill>
                <a:latin typeface="Calibri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7295" cy="10972"/>
          </a:xfrm>
          <a:prstGeom prst="rect">
            <a:avLst/>
          </a:prstGeom>
          <a:solidFill>
            <a:srgbClr val="D1C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Calibri"/>
              </a:defRPr>
            </a:pPr>
            <a:r>
              <a:t>Smart India Hackathon 2026 — Team Renaissance Guild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555555"/>
                </a:solidFill>
                <a:latin typeface="Calibri"/>
              </a:defRPr>
            </a:pPr>
            <a:r>
              <a:t>Slide 5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111625"/>
                </a:solidFill>
                <a:latin typeface="Georgia"/>
              </a:defRPr>
            </a:pPr>
            <a:r>
              <a:rPr sz="2200" b="1">
                <a:solidFill>
                  <a:srgbClr val="111625"/>
                </a:solidFill>
                <a:latin typeface="Georgia"/>
              </a:rPr>
              <a:t>❖ Impact &amp;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3429000" cy="329184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3429000" cy="320040"/>
          </a:xfrm>
          <a:prstGeom prst="rect">
            <a:avLst/>
          </a:prstGeom>
          <a:solidFill>
            <a:srgbClr val="2E6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FOR MARGINALIZED ARTISANS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691640"/>
            <a:ext cx="3429000" cy="3291840"/>
          </a:xfrm>
          <a:prstGeom prst="roundRect">
            <a:avLst/>
          </a:prstGeom>
          <a:solidFill>
            <a:srgbClr val="F5F1EB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9976" y="1701226"/>
            <a:ext cx="3429000" cy="32004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SEAMLESS PRODUCT JOURNEY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91640"/>
            <a:ext cx="3429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2752" y="1691640"/>
            <a:ext cx="3429000" cy="320040"/>
          </a:xfrm>
          <a:prstGeom prst="rect">
            <a:avLst/>
          </a:prstGeom>
          <a:solidFill>
            <a:srgbClr val="2E6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FOR BUYERS &amp; ECOSYSTEMS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748511"/>
            <a:ext cx="320954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• Professional Digital Cataloguing: Creates a stunning, standardized digital product listing directly from a raw smartphone photo and regional voice inputs.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 dirty="0">
                <a:solidFill>
                  <a:srgbClr val="D97724"/>
                </a:solidFill>
                <a:latin typeface="Calibri"/>
              </a:rPr>
              <a:t>• Complete Language Inclusion: Reduces critical dependency on English writing, advanced computer literacy, and expensive professional agency services.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• Less Onboarding Effort &amp; Friction: Enables wider buyer discovery. Eliminates physical-only sales limitations at local fairs and seasonal exhibitions.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 dirty="0">
                <a:solidFill>
                  <a:srgbClr val="D97724"/>
                </a:solidFill>
                <a:latin typeface="Calibri"/>
              </a:rPr>
              <a:t>• Total Control &amp; Full Agency: Keeps artisans firmly in control. AI-generated product descriptions stay fully editable and require confirmation before publishing.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2148840"/>
            <a:ext cx="3154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2E6F75"/>
                </a:solidFill>
                <a:latin typeface="Calibri"/>
              </a:defRPr>
            </a:pPr>
            <a:r>
              <a:rPr sz="1100" b="1">
                <a:solidFill>
                  <a:srgbClr val="2E6F75"/>
                </a:solidFill>
                <a:latin typeface="Calibri"/>
              </a:rPr>
              <a:t>1. Artisan Input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>
                <a:solidFill>
                  <a:srgbClr val="111625"/>
                </a:solidFill>
                <a:latin typeface="Calibri"/>
              </a:defRPr>
            </a:pPr>
            <a:r>
              <a:rPr sz="1000" b="0">
                <a:solidFill>
                  <a:srgbClr val="111625"/>
                </a:solidFill>
                <a:latin typeface="Calibri"/>
              </a:rPr>
              <a:t>Raw Photo + Telugu Voice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624328"/>
            <a:ext cx="315468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850" b="1">
                <a:solidFill>
                  <a:srgbClr val="D97724"/>
                </a:solidFill>
                <a:latin typeface="Georgia"/>
              </a:defRPr>
            </a:pPr>
            <a: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2834640"/>
            <a:ext cx="3154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2E6F75"/>
                </a:solidFill>
                <a:latin typeface="Calibri"/>
              </a:defRPr>
            </a:pPr>
            <a:r>
              <a:rPr sz="1100" b="1">
                <a:solidFill>
                  <a:srgbClr val="2E6F75"/>
                </a:solidFill>
                <a:latin typeface="Calibri"/>
              </a:rPr>
              <a:t>2. AI Engine Draft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>
                <a:solidFill>
                  <a:srgbClr val="111625"/>
                </a:solidFill>
                <a:latin typeface="Calibri"/>
              </a:defRPr>
            </a:pPr>
            <a:r>
              <a:rPr sz="1000" b="0">
                <a:solidFill>
                  <a:srgbClr val="111625"/>
                </a:solidFill>
                <a:latin typeface="Calibri"/>
              </a:rPr>
              <a:t>ASR Transcription &amp; Listing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310128"/>
            <a:ext cx="315468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850" b="1">
                <a:solidFill>
                  <a:srgbClr val="D97724"/>
                </a:solidFill>
                <a:latin typeface="Georgia"/>
              </a:defRPr>
            </a:pPr>
            <a:r>
              <a:t>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7136" y="3520440"/>
            <a:ext cx="3154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2E6F75"/>
                </a:solidFill>
                <a:latin typeface="Calibri"/>
              </a:defRPr>
            </a:pPr>
            <a:r>
              <a:rPr sz="1100" b="1">
                <a:solidFill>
                  <a:srgbClr val="2E6F75"/>
                </a:solidFill>
                <a:latin typeface="Calibri"/>
              </a:rPr>
              <a:t>3. Artisan Verification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>
                <a:solidFill>
                  <a:srgbClr val="111625"/>
                </a:solidFill>
                <a:latin typeface="Calibri"/>
              </a:defRPr>
            </a:pPr>
            <a:r>
              <a:rPr sz="1000" b="0">
                <a:solidFill>
                  <a:srgbClr val="111625"/>
                </a:solidFill>
                <a:latin typeface="Calibri"/>
              </a:rPr>
              <a:t>Review, Edit, and Tap to 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995928"/>
            <a:ext cx="315468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850" b="1">
                <a:solidFill>
                  <a:srgbClr val="D97724"/>
                </a:solidFill>
                <a:latin typeface="Georgia"/>
              </a:defRPr>
            </a:pPr>
            <a:r>
              <a:t>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17136" y="4206240"/>
            <a:ext cx="3154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2E6F75"/>
                </a:solidFill>
                <a:latin typeface="Calibri"/>
              </a:defRPr>
            </a:pPr>
            <a:r>
              <a:rPr sz="1100" b="1">
                <a:solidFill>
                  <a:srgbClr val="2E6F75"/>
                </a:solidFill>
                <a:latin typeface="Calibri"/>
              </a:rPr>
              <a:t>4. Buyer-Ready Catalog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>
                <a:solidFill>
                  <a:srgbClr val="111625"/>
                </a:solidFill>
                <a:latin typeface="Calibri"/>
              </a:defRPr>
            </a:pPr>
            <a:r>
              <a:rPr sz="1000" b="0">
                <a:solidFill>
                  <a:srgbClr val="111625"/>
                </a:solidFill>
                <a:latin typeface="Calibri"/>
              </a:rPr>
              <a:t>Live Listing matching with Bulk Buyers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726388"/>
            <a:ext cx="3209544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• Seamless Buyer Discovery: Provides large-scale B2B bulk buyers, boutique retail partners, and export agents with clearer, standardized product sheets.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 dirty="0">
                <a:solidFill>
                  <a:srgbClr val="D97724"/>
                </a:solidFill>
                <a:latin typeface="Calibri"/>
              </a:rPr>
              <a:t>• </a:t>
            </a:r>
            <a:r>
              <a:rPr sz="1150" b="1" dirty="0" err="1">
                <a:solidFill>
                  <a:srgbClr val="D97724"/>
                </a:solidFill>
                <a:latin typeface="Calibri"/>
              </a:rPr>
              <a:t>Standardised</a:t>
            </a:r>
            <a:r>
              <a:rPr sz="1150" b="1" dirty="0">
                <a:solidFill>
                  <a:srgbClr val="D97724"/>
                </a:solidFill>
                <a:latin typeface="Calibri"/>
              </a:rPr>
              <a:t> Product Metadata: Supports state cooperatives, craft societies, and NGOs with clean, structured, and searchable catalogs of local artisan outputs.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• Stronger Institutional Market Linkages: Bridges physical-to-digital gaps, allowing marginalized creators to directly service corporate gifting channels and large buyer networks.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 dirty="0">
                <a:solidFill>
                  <a:srgbClr val="D97724"/>
                </a:solidFill>
                <a:latin typeface="Calibri"/>
              </a:rPr>
              <a:t>• ONDC-Ready Pathway Layout: Structures inventory output data directly into schema-ready formats to facilitate future frictionless integration on open commerce.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6577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000" b="1">
                <a:solidFill>
                  <a:srgbClr val="111625"/>
                </a:solidFill>
                <a:latin typeface="Calibri"/>
              </a:defRPr>
            </a:pPr>
            <a:r>
              <a:rPr sz="1250" b="1">
                <a:solidFill>
                  <a:srgbClr val="111625"/>
                </a:solidFill>
                <a:latin typeface="Georgia"/>
              </a:rPr>
              <a:t>HOW WE WILL MEASURE PILOT IMPACT (Measurable Success Metrics)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67528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D97724"/>
                </a:solidFill>
                <a:latin typeface="Calibri"/>
              </a:defRPr>
            </a:pPr>
            <a:r>
              <a:rPr sz="1100" b="1">
                <a:solidFill>
                  <a:srgbClr val="D97724"/>
                </a:solidFill>
                <a:latin typeface="Calibri"/>
              </a:rPr>
              <a:t>TIME SAVED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 b="1">
                <a:solidFill>
                  <a:srgbClr val="111625"/>
                </a:solidFill>
                <a:latin typeface="Calibri"/>
              </a:defRPr>
            </a:pPr>
            <a:r>
              <a:rPr sz="1000" b="1">
                <a:solidFill>
                  <a:srgbClr val="111625"/>
                </a:solidFill>
                <a:latin typeface="Calibri"/>
              </a:rPr>
              <a:t>Drafting Speed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rPr sz="950" b="0">
                <a:solidFill>
                  <a:srgbClr val="555555"/>
                </a:solidFill>
                <a:latin typeface="Calibri"/>
              </a:rPr>
              <a:t>Catalogue creation cut from days to under 2 mins per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46704" y="5367528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D97724"/>
                </a:solidFill>
                <a:latin typeface="Calibri"/>
              </a:defRPr>
            </a:pPr>
            <a:r>
              <a:rPr sz="1100" b="1">
                <a:solidFill>
                  <a:srgbClr val="D97724"/>
                </a:solidFill>
                <a:latin typeface="Calibri"/>
              </a:rPr>
              <a:t>LISTINGS APPROVED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 b="1">
                <a:solidFill>
                  <a:srgbClr val="111625"/>
                </a:solidFill>
                <a:latin typeface="Calibri"/>
              </a:defRPr>
            </a:pPr>
            <a:r>
              <a:rPr sz="1000" b="1">
                <a:solidFill>
                  <a:srgbClr val="111625"/>
                </a:solidFill>
                <a:latin typeface="Calibri"/>
              </a:rPr>
              <a:t>Artisan Approval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rPr sz="950" b="0">
                <a:solidFill>
                  <a:srgbClr val="555555"/>
                </a:solidFill>
                <a:latin typeface="Calibri"/>
              </a:rPr>
              <a:t>Number of voice-drafted listings reviewed &amp; confirmed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5367528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D97724"/>
                </a:solidFill>
                <a:latin typeface="Calibri"/>
              </a:defRPr>
            </a:pPr>
            <a:r>
              <a:rPr sz="1100" b="1">
                <a:solidFill>
                  <a:srgbClr val="D97724"/>
                </a:solidFill>
                <a:latin typeface="Calibri"/>
              </a:rPr>
              <a:t>BUYER ENQUIRIES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 b="1">
                <a:solidFill>
                  <a:srgbClr val="111625"/>
                </a:solidFill>
                <a:latin typeface="Calibri"/>
              </a:defRPr>
            </a:pPr>
            <a:r>
              <a:rPr sz="1000" b="1">
                <a:solidFill>
                  <a:srgbClr val="111625"/>
                </a:solidFill>
                <a:latin typeface="Calibri"/>
              </a:rPr>
              <a:t>Market Matching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rPr sz="950" b="0">
                <a:solidFill>
                  <a:srgbClr val="555555"/>
                </a:solidFill>
                <a:latin typeface="Calibri"/>
              </a:rPr>
              <a:t>B2B bulk leads and matches made via regional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25712" y="5367528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D97724"/>
                </a:solidFill>
                <a:latin typeface="Calibri"/>
              </a:defRPr>
            </a:pPr>
            <a:r>
              <a:rPr sz="1100" b="1">
                <a:solidFill>
                  <a:srgbClr val="D97724"/>
                </a:solidFill>
                <a:latin typeface="Calibri"/>
              </a:rPr>
              <a:t>INDEPENDENT USE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800" b="1">
                <a:solidFill>
                  <a:srgbClr val="111625"/>
                </a:solidFill>
                <a:latin typeface="Calibri"/>
              </a:defRPr>
            </a:pPr>
            <a:r>
              <a:rPr sz="1000" b="1">
                <a:solidFill>
                  <a:srgbClr val="111625"/>
                </a:solidFill>
                <a:latin typeface="Calibri"/>
              </a:rPr>
              <a:t>Self-Sufficiency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rPr sz="950" b="0">
                <a:solidFill>
                  <a:srgbClr val="555555"/>
                </a:solidFill>
                <a:latin typeface="Calibri"/>
              </a:rPr>
              <a:t>% of rural artisans completing listings with zero tech aid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0"/>
            <a:ext cx="11277295" cy="109728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0" cy="64008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85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  <a:p>
            <a:pPr algn="ctr">
              <a:defRPr sz="1000" b="1">
                <a:solidFill>
                  <a:srgbClr val="111625"/>
                </a:solidFill>
                <a:latin typeface="Calibri"/>
              </a:defRPr>
            </a:pPr>
            <a:r>
              <a:t>Renaissance Guild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E6F75"/>
                </a:solidFill>
                <a:latin typeface="Calibri"/>
              </a:defRPr>
            </a:pPr>
            <a:r>
              <a:t>IDEA TITLE</a:t>
            </a:r>
          </a:p>
          <a:p>
            <a:pPr>
              <a:defRPr sz="2000" b="1">
                <a:solidFill>
                  <a:srgbClr val="111625"/>
                </a:solidFill>
                <a:latin typeface="Georgia"/>
              </a:defRPr>
            </a:pPr>
            <a:r>
              <a:t>KARIGAR SETHU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274320"/>
            <a:ext cx="1950415" cy="640080"/>
          </a:xfrm>
          <a:prstGeom prst="roundRect">
            <a:avLst/>
          </a:prstGeom>
          <a:solidFill>
            <a:srgbClr val="11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defRPr sz="850" b="1">
                <a:solidFill>
                  <a:srgbClr val="D97724"/>
                </a:solidFill>
                <a:latin typeface="Calibri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77295" cy="10972"/>
          </a:xfrm>
          <a:prstGeom prst="rect">
            <a:avLst/>
          </a:prstGeom>
          <a:solidFill>
            <a:srgbClr val="D1C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Calibri"/>
              </a:defRPr>
            </a:pPr>
            <a:r>
              <a:t>Smart India Hackathon 2026 — Team Renaissance Guild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55555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99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555555"/>
                </a:solidFill>
                <a:latin typeface="Calibri"/>
              </a:defRPr>
            </a:pPr>
            <a:r>
              <a:t>Slide 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 b="1">
                <a:solidFill>
                  <a:srgbClr val="111625"/>
                </a:solidFill>
                <a:latin typeface="Georgia"/>
              </a:defRPr>
            </a:pPr>
            <a:r>
              <a:rPr sz="2200" b="1">
                <a:solidFill>
                  <a:srgbClr val="111625"/>
                </a:solidFill>
                <a:latin typeface="Georgia"/>
              </a:rPr>
              <a:t>❖ Research &amp;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555555"/>
                </a:solidFill>
                <a:latin typeface="Calibri"/>
              </a:defRPr>
            </a:pPr>
            <a:r>
              <a:rPr sz="1250" b="0">
                <a:solidFill>
                  <a:srgbClr val="555555"/>
                </a:solidFill>
                <a:latin typeface="Calibri"/>
              </a:rPr>
              <a:t>Official sources and statutory structures that informed KarigarSetu's design and digital-market linkage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01168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2E6F75"/>
                </a:solidFill>
                <a:latin typeface="Calibri"/>
              </a:defRPr>
            </a:pPr>
            <a:r>
              <a:rPr sz="1250" b="1" dirty="0" err="1">
                <a:solidFill>
                  <a:srgbClr val="2E6F75"/>
                </a:solidFill>
                <a:latin typeface="Georgia"/>
              </a:rPr>
              <a:t>IndiaHandmade</a:t>
            </a:r>
            <a:endParaRPr sz="1250" b="1" dirty="0">
              <a:solidFill>
                <a:srgbClr val="2E6F75"/>
              </a:solidFill>
              <a:latin typeface="Georgia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Ministry of Textiles, Government of India. Official e-marketplace created to support weavers and artisans by enabling direct customer sales.</a:t>
            </a:r>
            <a:endParaRPr lang="en-IN" sz="1050" b="0" dirty="0">
              <a:solidFill>
                <a:srgbClr val="555555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850" b="1">
                <a:solidFill>
                  <a:srgbClr val="D97724"/>
                </a:solidFill>
                <a:latin typeface="Calibri"/>
              </a:defRPr>
            </a:pPr>
            <a:r>
              <a:rPr lang="en-IN" sz="1000" b="1" i="1" dirty="0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mindiahandmade.com</a:t>
            </a:r>
            <a:endParaRPr lang="en-IN" sz="1000" b="1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9976" y="196596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2E6F75"/>
                </a:solidFill>
                <a:latin typeface="Calibri"/>
              </a:defRPr>
            </a:pPr>
            <a:r>
              <a:rPr sz="1250" b="1" dirty="0">
                <a:solidFill>
                  <a:srgbClr val="2E6F75"/>
                </a:solidFill>
                <a:latin typeface="Georgia"/>
              </a:rPr>
              <a:t>BHASHINI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Digital India Initiative • </a:t>
            </a:r>
            <a:r>
              <a:rPr sz="1050" b="0" dirty="0" err="1">
                <a:solidFill>
                  <a:srgbClr val="555555"/>
                </a:solidFill>
                <a:latin typeface="Calibri"/>
              </a:rPr>
              <a:t>MeiTY</a:t>
            </a:r>
            <a:r>
              <a:rPr sz="1050" b="0" dirty="0">
                <a:solidFill>
                  <a:srgbClr val="555555"/>
                </a:solidFill>
                <a:latin typeface="Calibri"/>
              </a:rPr>
              <a:t>. Translates and transcribes regional audio, breaking critical language barriers for voice-led listings.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 b="1">
                <a:solidFill>
                  <a:srgbClr val="D97724"/>
                </a:solidFill>
                <a:latin typeface="Calibri"/>
              </a:defRPr>
            </a:pPr>
            <a:r>
              <a:rPr sz="1000" b="1" i="1" dirty="0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bhashini.gov.in</a:t>
            </a:r>
            <a:endParaRPr sz="1000" b="1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02752" y="196596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2E6F75"/>
                </a:solidFill>
                <a:latin typeface="Calibri"/>
              </a:defRPr>
            </a:pPr>
            <a:r>
              <a:rPr sz="1250" b="1" dirty="0">
                <a:solidFill>
                  <a:srgbClr val="2E6F75"/>
                </a:solidFill>
                <a:latin typeface="Georgia"/>
              </a:rPr>
              <a:t>ONDC (Open Network)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DPIIT, Government of India. Provides a unified, open framework for digital-commerce discovery and frictionless localized merchant access.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 b="1">
                <a:solidFill>
                  <a:srgbClr val="D97724"/>
                </a:solidFill>
                <a:latin typeface="Calibri"/>
              </a:defRPr>
            </a:pPr>
            <a:r>
              <a:rPr sz="1000" b="1" i="1" dirty="0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ondc.org</a:t>
            </a:r>
            <a:endParaRPr sz="1000" b="1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2E6F75"/>
                </a:solidFill>
                <a:latin typeface="Calibri"/>
              </a:defRPr>
            </a:pPr>
            <a:r>
              <a:rPr sz="1250" b="1" dirty="0">
                <a:solidFill>
                  <a:srgbClr val="2E6F75"/>
                </a:solidFill>
                <a:latin typeface="Georgia"/>
              </a:rPr>
              <a:t>DC (Handicrafts)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Ministry of Textiles. Nodal government body directing nation-wide handicraft clusters, artisan welfare, and design training development.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 b="1">
                <a:solidFill>
                  <a:srgbClr val="D97724"/>
                </a:solidFill>
                <a:latin typeface="Calibri"/>
              </a:defRPr>
            </a:pPr>
            <a:r>
              <a:rPr sz="1000" b="1" i="1" dirty="0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handicrafts.nic.in</a:t>
            </a:r>
            <a:endParaRPr sz="1000" b="1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79976" y="379476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C7BD"/>
            </a:solidFill>
          </a:ln>
          <a:effectLst>
            <a:outerShdw blurRad="15000" dist="8000" dir="54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2E6F75"/>
                </a:solidFill>
                <a:latin typeface="Calibri"/>
              </a:defRPr>
            </a:pPr>
            <a:r>
              <a:rPr sz="1250" b="1" dirty="0">
                <a:solidFill>
                  <a:srgbClr val="2E6F75"/>
                </a:solidFill>
                <a:latin typeface="Georgia"/>
              </a:rPr>
              <a:t>Indian Handicrafts Portal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555555"/>
                </a:solidFill>
                <a:latin typeface="Calibri"/>
              </a:defRPr>
            </a:pPr>
            <a:r>
              <a:rPr sz="1050" b="0" dirty="0">
                <a:solidFill>
                  <a:srgbClr val="555555"/>
                </a:solidFill>
                <a:latin typeface="Calibri"/>
              </a:rPr>
              <a:t>Development Commissioner (Handicrafts). Centralized portal for registering artisan identity, checking schemes, and tracking regional crafts.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 b="1">
                <a:solidFill>
                  <a:srgbClr val="D97724"/>
                </a:solidFill>
                <a:latin typeface="Calibri"/>
              </a:defRPr>
            </a:pPr>
            <a:r>
              <a:rPr sz="1000" b="1" i="1" dirty="0">
                <a:solidFill>
                  <a:srgbClr val="00B0F0"/>
                </a:solidFill>
                <a:latin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indian.handicrafts.gov.in</a:t>
            </a:r>
            <a:endParaRPr sz="1000" b="1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5623560"/>
            <a:ext cx="11277295" cy="548640"/>
          </a:xfrm>
          <a:prstGeom prst="roundRect">
            <a:avLst/>
          </a:prstGeom>
          <a:solidFill>
            <a:srgbClr val="F5F1EB"/>
          </a:solidFill>
          <a:ln w="12700">
            <a:solidFill>
              <a:srgbClr val="D1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E6F75"/>
                </a:solidFill>
                <a:latin typeface="Calibri"/>
              </a:defRPr>
            </a:pPr>
            <a:r>
              <a:rPr sz="1100" b="1">
                <a:solidFill>
                  <a:srgbClr val="111625"/>
                </a:solidFill>
                <a:latin typeface="Calibri"/>
              </a:rPr>
              <a:t>✦ All AI-generated catalogue details remain editable and artisan-approved before publishing — ensuring accuracy, ownership, and trust.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E2A3C1-C9B1-B7E3-9190-FF709E76FBA1}"/>
              </a:ext>
            </a:extLst>
          </p:cNvPr>
          <p:cNvSpPr/>
          <p:nvPr/>
        </p:nvSpPr>
        <p:spPr>
          <a:xfrm>
            <a:off x="8302752" y="3904488"/>
            <a:ext cx="3278753" cy="1417320"/>
          </a:xfrm>
          <a:prstGeom prst="roundRect">
            <a:avLst/>
          </a:prstGeom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           </a:t>
            </a:r>
            <a:r>
              <a:rPr lang="en-IN" sz="1600" b="1" dirty="0">
                <a:solidFill>
                  <a:srgbClr val="2E6F75"/>
                </a:solidFill>
              </a:rPr>
              <a:t>Amazon </a:t>
            </a:r>
            <a:r>
              <a:rPr lang="en-IN" sz="1600" b="1" dirty="0" err="1">
                <a:solidFill>
                  <a:srgbClr val="2E6F75"/>
                </a:solidFill>
              </a:rPr>
              <a:t>Karigar</a:t>
            </a:r>
            <a:endParaRPr lang="en-IN" sz="1600" b="1" dirty="0">
              <a:solidFill>
                <a:srgbClr val="2E6F75"/>
              </a:solidFill>
            </a:endParaRPr>
          </a:p>
          <a:p>
            <a:endParaRPr lang="en-IN" sz="1600" dirty="0"/>
          </a:p>
          <a:p>
            <a:r>
              <a:rPr lang="en-IN" sz="1050" dirty="0"/>
              <a:t>Amazon India Initiative. Supports Indian artisans and small businesses by providing access to online markets, helping them showcase and sell traditional handmade products to customers nationwide</a:t>
            </a:r>
          </a:p>
          <a:p>
            <a:r>
              <a:rPr lang="en-IN" sz="1050" dirty="0">
                <a:solidFill>
                  <a:srgbClr val="00B0F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Amazonkarigar.com</a:t>
            </a:r>
            <a:r>
              <a:rPr lang="en-IN" sz="1050" dirty="0">
                <a:solidFill>
                  <a:srgbClr val="4970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en-IN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296</TotalTime>
  <Words>678</Words>
  <Application>Microsoft Office PowerPoint</Application>
  <PresentationFormat>Widescreen</PresentationFormat>
  <Paragraphs>96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Nova Light</vt:lpstr>
      <vt:lpstr>Calibri</vt:lpstr>
      <vt:lpstr>Georgia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Yaswanth Reddy</dc:creator>
  <cp:keywords/>
  <dc:description>generated using python-pptx</dc:description>
  <cp:lastModifiedBy>Yaswanth Reddy</cp:lastModifiedBy>
  <cp:revision>7</cp:revision>
  <dcterms:created xsi:type="dcterms:W3CDTF">2013-01-27T09:14:16Z</dcterms:created>
  <dcterms:modified xsi:type="dcterms:W3CDTF">2026-09-30T17:26:39Z</dcterms:modified>
  <cp:category/>
</cp:coreProperties>
</file>